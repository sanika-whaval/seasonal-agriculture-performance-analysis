
<file path=[Content_Types].xml><?xml version="1.0" encoding="utf-8"?>
<Types xmlns="http://schemas.openxmlformats.org/package/2006/content-types">
  <Default Extension="jfif" ContentType="image/jpeg"/>
  <Default Extension="png" ContentType="image/png"/>
  <Default Extension="bin" ContentType="application/vnd.openxmlformats-officedocument.oleObject"/>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4" d="100"/>
          <a:sy n="74" d="100"/>
        </p:scale>
        <p:origin x="492"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slideLayout" Target="../slideLayouts/slideLayout19.xml"/><Relationship Id="rId1" Type="http://schemas.openxmlformats.org/officeDocument/2006/relationships/vmlDrawing" Target="../drawings/vmlDrawing1.vml"/><Relationship Id="rId5" Type="http://schemas.openxmlformats.org/officeDocument/2006/relationships/image" Target="../media/image16.emf"/><Relationship Id="rId4"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399245" y="3583914"/>
            <a:ext cx="8113690" cy="861497"/>
          </a:xfrm>
        </p:spPr>
        <p:txBody>
          <a:bodyPr vert="horz" lIns="91440" tIns="45720" rIns="91440" bIns="45720" rtlCol="0" anchor="t">
            <a:noAutofit/>
          </a:bodyPr>
          <a:lstStyle/>
          <a:p>
            <a:r>
              <a:rPr lang="en-US" dirty="0" smtClean="0">
                <a:solidFill>
                  <a:schemeClr val="tx1"/>
                </a:solidFill>
              </a:rPr>
              <a:t>Student Name –</a:t>
            </a:r>
            <a:r>
              <a:rPr lang="en-US" b="0" dirty="0" err="1" smtClean="0">
                <a:solidFill>
                  <a:schemeClr val="tx1"/>
                </a:solidFill>
              </a:rPr>
              <a:t>Sanika</a:t>
            </a:r>
            <a:r>
              <a:rPr lang="en-US" b="0" dirty="0" smtClean="0">
                <a:solidFill>
                  <a:schemeClr val="tx1"/>
                </a:solidFill>
              </a:rPr>
              <a:t> Rajesh </a:t>
            </a:r>
            <a:r>
              <a:rPr lang="en-US" b="0" dirty="0" err="1" smtClean="0">
                <a:solidFill>
                  <a:schemeClr val="tx1"/>
                </a:solidFill>
              </a:rPr>
              <a:t>Whaval</a:t>
            </a:r>
            <a:r>
              <a:rPr lang="en-US" b="0" dirty="0">
                <a:solidFill>
                  <a:schemeClr val="tx1"/>
                </a:solidFill>
              </a:rPr>
              <a:t>.</a:t>
            </a:r>
            <a:r>
              <a:rPr lang="en-US" b="0" dirty="0" smtClean="0">
                <a:solidFill>
                  <a:schemeClr val="tx1"/>
                </a:solidFill>
              </a:rPr>
              <a:t> </a:t>
            </a:r>
            <a:endParaRPr lang="en-IN" b="0" dirty="0">
              <a:solidFill>
                <a:schemeClr val="tx1"/>
              </a:solidFill>
            </a:endParaRPr>
          </a:p>
          <a:p>
            <a:r>
              <a:rPr lang="en-US" dirty="0">
                <a:solidFill>
                  <a:schemeClr val="tx1"/>
                </a:solidFill>
              </a:rPr>
              <a:t>College </a:t>
            </a:r>
            <a:r>
              <a:rPr lang="en-US" dirty="0" smtClean="0">
                <a:solidFill>
                  <a:schemeClr val="tx1"/>
                </a:solidFill>
              </a:rPr>
              <a:t>Name- </a:t>
            </a:r>
            <a:r>
              <a:rPr lang="en-US" b="0" dirty="0" err="1" smtClean="0">
                <a:solidFill>
                  <a:schemeClr val="tx1"/>
                </a:solidFill>
              </a:rPr>
              <a:t>Anantrao</a:t>
            </a:r>
            <a:r>
              <a:rPr lang="en-US" b="0" dirty="0" smtClean="0">
                <a:solidFill>
                  <a:schemeClr val="tx1"/>
                </a:solidFill>
              </a:rPr>
              <a:t> </a:t>
            </a:r>
            <a:r>
              <a:rPr lang="en-US" b="0" dirty="0" err="1" smtClean="0">
                <a:solidFill>
                  <a:schemeClr val="tx1"/>
                </a:solidFill>
              </a:rPr>
              <a:t>Pawar</a:t>
            </a:r>
            <a:r>
              <a:rPr lang="en-US" b="0" dirty="0" smtClean="0">
                <a:solidFill>
                  <a:schemeClr val="tx1"/>
                </a:solidFill>
              </a:rPr>
              <a:t> College Of Engineering &amp; Research. </a:t>
            </a:r>
            <a:endParaRPr lang="en-IN"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678364" y="2844750"/>
            <a:ext cx="9470188" cy="743448"/>
          </a:xfrm>
        </p:spPr>
        <p:txBody>
          <a:bodyPr>
            <a:normAutofit/>
          </a:bodyPr>
          <a:lstStyle/>
          <a:p>
            <a:r>
              <a:rPr lang="en-GB" b="1" dirty="0"/>
              <a:t>Project Title </a:t>
            </a:r>
            <a:r>
              <a:rPr lang="en-GB" sz="3200" dirty="0"/>
              <a:t>-</a:t>
            </a:r>
            <a:r>
              <a:rPr lang="en-GB" sz="2700" b="1" dirty="0"/>
              <a:t>Seasonal Agriculture Performance Analysis </a:t>
            </a:r>
            <a:endParaRPr lang="en-IN" sz="2700" b="1"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399245" y="4537801"/>
            <a:ext cx="6001555" cy="400110"/>
          </a:xfrm>
          <a:prstGeom prst="rect">
            <a:avLst/>
          </a:prstGeom>
          <a:noFill/>
        </p:spPr>
        <p:txBody>
          <a:bodyPr wrap="square" rtlCol="0">
            <a:spAutoFit/>
          </a:bodyPr>
          <a:lstStyle/>
          <a:p>
            <a:r>
              <a:rPr lang="en-US" sz="2000" b="1" dirty="0"/>
              <a:t>AICTE STU ID </a:t>
            </a:r>
            <a:r>
              <a:rPr lang="en-US" sz="2000" b="1" dirty="0"/>
              <a:t>:</a:t>
            </a:r>
            <a:r>
              <a:rPr lang="en-US" sz="2000" dirty="0"/>
              <a:t>STU658d0fedee50d1703743469 </a:t>
            </a:r>
            <a:endParaRPr lang="en-US" sz="2000"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515155" y="2102230"/>
            <a:ext cx="7235051" cy="3607987"/>
          </a:xfrm>
        </p:spPr>
        <p:txBody>
          <a:bodyPr vert="horz" lIns="91440" tIns="45720" rIns="91440" bIns="45720" rtlCol="0" anchor="t">
            <a:normAutofit fontScale="70000" lnSpcReduction="20000"/>
          </a:bodyPr>
          <a:lstStyle/>
          <a:p>
            <a:pPr algn="just">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sz="280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fontScale="90000"/>
          </a:bodyPr>
          <a:lstStyle/>
          <a:p>
            <a:r>
              <a:rPr lang="en-US" sz="4400" dirty="0"/>
              <a:t>PROBLEM</a:t>
            </a:r>
            <a:r>
              <a:rPr lang="en-US" dirty="0"/>
              <a:t>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675957" y="148392"/>
            <a:ext cx="8133192" cy="650100"/>
          </a:xfrm>
        </p:spPr>
        <p:txBody>
          <a:bodyPr>
            <a:normAutofit fontScale="90000"/>
          </a:bodyPr>
          <a:lstStyle/>
          <a:p>
            <a:r>
              <a:rPr lang="en-GB" dirty="0" smtClean="0"/>
              <a:t>Project </a:t>
            </a:r>
            <a:r>
              <a:rPr lang="en-GB" sz="4400" dirty="0" smtClean="0"/>
              <a:t>Description</a:t>
            </a:r>
            <a:r>
              <a:rPr lang="en-GB" dirty="0"/>
              <a:t/>
            </a:r>
            <a:br>
              <a:rPr lang="en-GB" dirty="0"/>
            </a:br>
            <a:r>
              <a:rPr lang="en-US" sz="1800" b="0" dirty="0" smtClean="0"/>
              <a:t>This </a:t>
            </a:r>
            <a:r>
              <a:rPr lang="en-US" sz="1800" b="0" dirty="0"/>
              <a:t>project focuses on analyzing agricultural activities across different seasons, geographical areas, crops, farming conditions, and resource usage</a:t>
            </a:r>
            <a:r>
              <a:rPr lang="en-US" sz="1800" b="0" dirty="0" smtClean="0"/>
              <a:t>. The </a:t>
            </a:r>
            <a:r>
              <a:rPr lang="en-US" sz="1800" b="0" dirty="0"/>
              <a:t>dataset contains information related to farming practices, environmental conditions, crop production, resource utilization, and economic performance</a:t>
            </a:r>
            <a:r>
              <a:rPr lang="en-US" sz="1800" b="0" dirty="0" smtClean="0"/>
              <a:t>. The </a:t>
            </a:r>
            <a:r>
              <a:rPr lang="en-US" sz="1800" b="0" dirty="0"/>
              <a:t>analysis involves cleaning and preparing the agricultural data, exploring seasonal variations, comparing agricultural performance across different categories, identifying relationships between environmental and agricultural factors, and applying statistical and visualization techniques to generate meaningful insights</a:t>
            </a:r>
            <a:r>
              <a:rPr lang="en-US" sz="1800" b="0" dirty="0" smtClean="0"/>
              <a:t>. The </a:t>
            </a:r>
            <a:r>
              <a:rPr lang="en-US" sz="1800" b="0" dirty="0"/>
              <a:t>project aims to transform raw agricultural data into evidence-based insights and data-driven recommendations that can support better understanding and planning of seasonal agricultural </a:t>
            </a:r>
            <a:r>
              <a:rPr lang="en-US" sz="1800" b="0" dirty="0" smtClean="0"/>
              <a:t>activities.</a:t>
            </a:r>
            <a:br>
              <a:rPr lang="en-US" sz="1800" b="0" dirty="0" smtClean="0"/>
            </a:br>
            <a:r>
              <a:rPr lang="en-US" sz="1800" b="0" dirty="0"/>
              <a:t/>
            </a:r>
            <a:br>
              <a:rPr lang="en-US" sz="1800" b="0" dirty="0"/>
            </a:br>
            <a:r>
              <a:rPr lang="en-US" sz="1800" dirty="0"/>
              <a:t>Key Areas </a:t>
            </a:r>
            <a:r>
              <a:rPr lang="en-US" sz="1800" dirty="0" smtClean="0"/>
              <a:t>Analyzed</a:t>
            </a:r>
            <a:r>
              <a:rPr lang="en-US" sz="1800" b="0" dirty="0" smtClean="0"/>
              <a:t/>
            </a:r>
            <a:br>
              <a:rPr lang="en-US" sz="1800" b="0" dirty="0" smtClean="0"/>
            </a:br>
            <a:r>
              <a:rPr lang="en-US" sz="1800" b="0" dirty="0" smtClean="0"/>
              <a:t>Seasonal performance</a:t>
            </a:r>
            <a:br>
              <a:rPr lang="en-US" sz="1800" b="0" dirty="0" smtClean="0"/>
            </a:br>
            <a:r>
              <a:rPr lang="en-US" sz="1800" b="0" dirty="0" smtClean="0"/>
              <a:t>Crop-wise yield</a:t>
            </a:r>
            <a:br>
              <a:rPr lang="en-US" sz="1800" b="0" dirty="0" smtClean="0"/>
            </a:br>
            <a:r>
              <a:rPr lang="en-US" sz="1800" b="0" dirty="0" smtClean="0"/>
              <a:t>Irrigation methods</a:t>
            </a:r>
            <a:br>
              <a:rPr lang="en-US" sz="1800" b="0" dirty="0" smtClean="0"/>
            </a:br>
            <a:r>
              <a:rPr lang="en-US" sz="1800" b="0" dirty="0" smtClean="0"/>
              <a:t>Water </a:t>
            </a:r>
            <a:r>
              <a:rPr lang="en-US" sz="1800" b="0" dirty="0"/>
              <a:t>usage and </a:t>
            </a:r>
            <a:r>
              <a:rPr lang="en-US" sz="1800" b="0" dirty="0" smtClean="0"/>
              <a:t>efficiency</a:t>
            </a:r>
            <a:br>
              <a:rPr lang="en-US" sz="1800" b="0" dirty="0" smtClean="0"/>
            </a:br>
            <a:r>
              <a:rPr lang="en-US" sz="1800" b="0" dirty="0" smtClean="0"/>
              <a:t>Environmental conditions</a:t>
            </a:r>
            <a:br>
              <a:rPr lang="en-US" sz="1800" b="0" dirty="0" smtClean="0"/>
            </a:br>
            <a:r>
              <a:rPr lang="en-US" sz="1800" b="0" dirty="0" smtClean="0"/>
              <a:t>Resource utilization</a:t>
            </a:r>
            <a:br>
              <a:rPr lang="en-US" sz="1800" b="0" dirty="0" smtClean="0"/>
            </a:br>
            <a:r>
              <a:rPr lang="en-US" sz="1800" b="0" dirty="0" smtClean="0"/>
              <a:t>Economic performance</a:t>
            </a:r>
            <a:br>
              <a:rPr lang="en-US" sz="1800" b="0" dirty="0" smtClean="0"/>
            </a:br>
            <a:r>
              <a:rPr lang="en-US" sz="1800" b="0" dirty="0" smtClean="0"/>
              <a:t>Relationships </a:t>
            </a:r>
            <a:r>
              <a:rPr lang="en-US" sz="1800" b="0" dirty="0"/>
              <a:t>between agricultural variables</a:t>
            </a:r>
            <a:endParaRPr lang="en-IN" sz="1800" b="0"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64E3B60-2780-459A-8583-F095D5E7463A}"/>
              </a:ext>
            </a:extLst>
          </p:cNvPr>
          <p:cNvSpPr>
            <a:spLocks noGrp="1"/>
          </p:cNvSpPr>
          <p:nvPr>
            <p:ph type="body" sz="quarter" idx="12"/>
          </p:nvPr>
        </p:nvSpPr>
        <p:spPr>
          <a:xfrm>
            <a:off x="347730" y="721217"/>
            <a:ext cx="8963695" cy="5731098"/>
          </a:xfrm>
        </p:spPr>
        <p:txBody>
          <a:bodyPr>
            <a:noAutofit/>
          </a:bodyPr>
          <a:lstStyle/>
          <a:p>
            <a:pPr marL="0" indent="0">
              <a:lnSpc>
                <a:spcPct val="150000"/>
              </a:lnSpc>
              <a:buNone/>
            </a:pPr>
            <a:r>
              <a:rPr lang="en-US" sz="1400" b="1" dirty="0"/>
              <a:t>End Users</a:t>
            </a:r>
          </a:p>
          <a:p>
            <a:pPr marL="0" indent="0">
              <a:lnSpc>
                <a:spcPct val="150000"/>
              </a:lnSpc>
              <a:buNone/>
            </a:pPr>
            <a:r>
              <a:rPr lang="en-US" sz="1400" dirty="0" smtClean="0"/>
              <a:t>The </a:t>
            </a:r>
            <a:r>
              <a:rPr lang="en-US" sz="1400" dirty="0"/>
              <a:t>insights generated from this analysis can be useful for:</a:t>
            </a:r>
          </a:p>
          <a:p>
            <a:pPr marL="0" indent="0">
              <a:lnSpc>
                <a:spcPct val="150000"/>
              </a:lnSpc>
              <a:buNone/>
            </a:pPr>
            <a:r>
              <a:rPr lang="en-US" sz="1400" b="1" dirty="0"/>
              <a:t>1. </a:t>
            </a:r>
            <a:r>
              <a:rPr lang="en-US" sz="1400" b="1" dirty="0" smtClean="0"/>
              <a:t>Farmers - </a:t>
            </a:r>
            <a:r>
              <a:rPr lang="en-US" sz="1400" dirty="0" smtClean="0"/>
              <a:t>To </a:t>
            </a:r>
            <a:r>
              <a:rPr lang="en-US" sz="1400" dirty="0"/>
              <a:t>understand seasonal performance, crop yield patterns, irrigation requirements, and resource utilization.</a:t>
            </a:r>
          </a:p>
          <a:p>
            <a:pPr marL="0" indent="0">
              <a:lnSpc>
                <a:spcPct val="150000"/>
              </a:lnSpc>
              <a:buNone/>
            </a:pPr>
            <a:r>
              <a:rPr lang="en-US" sz="1400" b="1" dirty="0"/>
              <a:t>2. Agricultural </a:t>
            </a:r>
            <a:r>
              <a:rPr lang="en-US" sz="1400" b="1" dirty="0" smtClean="0"/>
              <a:t>Planners - </a:t>
            </a:r>
            <a:r>
              <a:rPr lang="en-US" sz="1400" dirty="0" smtClean="0"/>
              <a:t>To </a:t>
            </a:r>
            <a:r>
              <a:rPr lang="en-US" sz="1400" dirty="0"/>
              <a:t>compare seasonal performance and support evidence-based agricultural planning.</a:t>
            </a:r>
          </a:p>
          <a:p>
            <a:pPr marL="0" indent="0">
              <a:lnSpc>
                <a:spcPct val="150000"/>
              </a:lnSpc>
              <a:buNone/>
            </a:pPr>
            <a:r>
              <a:rPr lang="en-US" sz="1400" b="1" dirty="0"/>
              <a:t>3. Agricultural </a:t>
            </a:r>
            <a:r>
              <a:rPr lang="en-US" sz="1400" b="1" dirty="0" smtClean="0"/>
              <a:t>Researchers - </a:t>
            </a:r>
            <a:r>
              <a:rPr lang="en-US" sz="1400" dirty="0" smtClean="0"/>
              <a:t>To </a:t>
            </a:r>
            <a:r>
              <a:rPr lang="en-US" sz="1400" dirty="0"/>
              <a:t>study relationships between environmental conditions, farming practices, resources, and crop outcomes.</a:t>
            </a:r>
          </a:p>
          <a:p>
            <a:pPr marL="0" indent="0">
              <a:lnSpc>
                <a:spcPct val="150000"/>
              </a:lnSpc>
              <a:buNone/>
            </a:pPr>
            <a:r>
              <a:rPr lang="en-US" sz="1400" b="1" dirty="0"/>
              <a:t>4. Government &amp; Agricultural </a:t>
            </a:r>
            <a:r>
              <a:rPr lang="en-US" sz="1400" b="1" dirty="0" smtClean="0"/>
              <a:t>Departments - </a:t>
            </a:r>
            <a:r>
              <a:rPr lang="en-US" sz="1400" dirty="0" smtClean="0"/>
              <a:t>To </a:t>
            </a:r>
            <a:r>
              <a:rPr lang="en-US" sz="1400" dirty="0"/>
              <a:t>understand regional and seasonal patterns that may support agricultural planning and resource management.</a:t>
            </a:r>
          </a:p>
          <a:p>
            <a:pPr marL="0" indent="0">
              <a:lnSpc>
                <a:spcPct val="150000"/>
              </a:lnSpc>
              <a:buNone/>
            </a:pPr>
            <a:r>
              <a:rPr lang="en-US" sz="1400" b="1" dirty="0"/>
              <a:t>5. Agribusiness &amp; Resource </a:t>
            </a:r>
            <a:r>
              <a:rPr lang="en-US" sz="1400" b="1" dirty="0" smtClean="0"/>
              <a:t>Managers - </a:t>
            </a:r>
            <a:r>
              <a:rPr lang="en-US" sz="1400" dirty="0" smtClean="0"/>
              <a:t>To </a:t>
            </a:r>
            <a:r>
              <a:rPr lang="en-US" sz="1400" dirty="0"/>
              <a:t>evaluate production, resource efficiency, and economic performance for better decision-making.</a:t>
            </a:r>
          </a:p>
          <a:p>
            <a:pPr marL="0" indent="0">
              <a:lnSpc>
                <a:spcPct val="150000"/>
              </a:lnSpc>
              <a:buNone/>
            </a:pPr>
            <a:r>
              <a:rPr lang="en-US" sz="1400" dirty="0"/>
              <a:t>These users align with the project's broader purpose of understanding seasonal variations, resource usage, performance differences, and supporting evidence-based planning.</a:t>
            </a:r>
            <a:endParaRPr lang="en-IN" sz="1400" dirty="0"/>
          </a:p>
        </p:txBody>
      </p:sp>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504098" y="142521"/>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xmlns="" id="{B21C28F5-3CA3-4B78-B5C9-550C00BB3174}"/>
              </a:ext>
            </a:extLst>
          </p:cNvPr>
          <p:cNvSpPr>
            <a:spLocks noGrp="1"/>
          </p:cNvSpPr>
          <p:nvPr>
            <p:ph type="body" sz="quarter" idx="12"/>
          </p:nvPr>
        </p:nvSpPr>
        <p:spPr>
          <a:xfrm>
            <a:off x="927280" y="933995"/>
            <a:ext cx="9581882" cy="5582716"/>
          </a:xfrm>
        </p:spPr>
        <p:txBody>
          <a:bodyPr>
            <a:normAutofit/>
          </a:bodyPr>
          <a:lstStyle/>
          <a:p>
            <a:pPr lvl="1">
              <a:lnSpc>
                <a:spcPct val="150000"/>
              </a:lnSpc>
            </a:pPr>
            <a:r>
              <a:rPr lang="en-IN" sz="1800" b="1" dirty="0"/>
              <a:t>Programming </a:t>
            </a:r>
            <a:r>
              <a:rPr lang="en-IN" sz="1800" b="1" dirty="0" smtClean="0"/>
              <a:t>Language </a:t>
            </a:r>
            <a:r>
              <a:rPr lang="en-IN" sz="1800" dirty="0" smtClean="0"/>
              <a:t>- Python</a:t>
            </a:r>
            <a:endParaRPr lang="en-IN" sz="1800" dirty="0"/>
          </a:p>
          <a:p>
            <a:pPr lvl="1">
              <a:lnSpc>
                <a:spcPct val="150000"/>
              </a:lnSpc>
            </a:pPr>
            <a:r>
              <a:rPr lang="en-IN" sz="1800" b="1" dirty="0"/>
              <a:t>Data </a:t>
            </a:r>
            <a:r>
              <a:rPr lang="en-IN" sz="1800" b="1" dirty="0" smtClean="0"/>
              <a:t>Analysis </a:t>
            </a:r>
            <a:r>
              <a:rPr lang="en-IN" sz="1800" dirty="0" smtClean="0"/>
              <a:t>– Pandas , </a:t>
            </a:r>
            <a:r>
              <a:rPr lang="en-IN" sz="1800" dirty="0" err="1" smtClean="0"/>
              <a:t>NumPy</a:t>
            </a:r>
            <a:endParaRPr lang="en-IN" sz="1800" dirty="0"/>
          </a:p>
          <a:p>
            <a:pPr lvl="1">
              <a:lnSpc>
                <a:spcPct val="150000"/>
              </a:lnSpc>
            </a:pPr>
            <a:r>
              <a:rPr lang="en-IN" sz="1800" b="1" dirty="0"/>
              <a:t>Data </a:t>
            </a:r>
            <a:r>
              <a:rPr lang="en-IN" sz="1800" b="1" dirty="0" smtClean="0"/>
              <a:t>Visualization </a:t>
            </a:r>
            <a:r>
              <a:rPr lang="en-IN" sz="1800" dirty="0" smtClean="0"/>
              <a:t>- </a:t>
            </a:r>
            <a:r>
              <a:rPr lang="en-IN" sz="1800" dirty="0" err="1" smtClean="0"/>
              <a:t>Matplotlib</a:t>
            </a:r>
            <a:r>
              <a:rPr lang="en-IN" sz="1800" dirty="0" smtClean="0"/>
              <a:t> , </a:t>
            </a:r>
            <a:r>
              <a:rPr lang="en-IN" sz="1800" dirty="0" err="1" smtClean="0"/>
              <a:t>Seaborn</a:t>
            </a:r>
            <a:endParaRPr lang="en-IN" sz="1800" dirty="0"/>
          </a:p>
          <a:p>
            <a:pPr lvl="1">
              <a:lnSpc>
                <a:spcPct val="150000"/>
              </a:lnSpc>
            </a:pPr>
            <a:r>
              <a:rPr lang="en-IN" sz="1800" b="1" dirty="0"/>
              <a:t>Statistical </a:t>
            </a:r>
            <a:r>
              <a:rPr lang="en-IN" sz="1800" b="1" dirty="0" smtClean="0"/>
              <a:t>Analysis </a:t>
            </a:r>
            <a:r>
              <a:rPr lang="en-IN" sz="1800" dirty="0" smtClean="0"/>
              <a:t>- </a:t>
            </a:r>
            <a:r>
              <a:rPr lang="en-IN" sz="1800" dirty="0" err="1" smtClean="0"/>
              <a:t>SciPy</a:t>
            </a:r>
            <a:endParaRPr lang="en-IN" sz="1800" dirty="0"/>
          </a:p>
          <a:p>
            <a:pPr lvl="1">
              <a:lnSpc>
                <a:spcPct val="150000"/>
              </a:lnSpc>
            </a:pPr>
            <a:r>
              <a:rPr lang="en-IN" sz="1800" b="1" dirty="0"/>
              <a:t>Development </a:t>
            </a:r>
            <a:r>
              <a:rPr lang="en-IN" sz="1800" b="1" dirty="0" smtClean="0"/>
              <a:t>Environment </a:t>
            </a:r>
            <a:r>
              <a:rPr lang="en-IN" sz="1800" dirty="0" smtClean="0"/>
              <a:t>- Google </a:t>
            </a:r>
            <a:r>
              <a:rPr lang="en-IN" sz="1800" dirty="0" err="1"/>
              <a:t>Colab</a:t>
            </a:r>
            <a:r>
              <a:rPr lang="en-IN" sz="1800" dirty="0"/>
              <a:t> </a:t>
            </a:r>
          </a:p>
          <a:p>
            <a:pPr lvl="1">
              <a:lnSpc>
                <a:spcPct val="150000"/>
              </a:lnSpc>
            </a:pPr>
            <a:r>
              <a:rPr lang="en-IN" sz="1800" b="1" dirty="0" smtClean="0"/>
              <a:t>Data Format </a:t>
            </a:r>
            <a:r>
              <a:rPr lang="en-IN" sz="1800" dirty="0" smtClean="0"/>
              <a:t>- CSV</a:t>
            </a:r>
            <a:endParaRPr lang="en-IN" sz="1800" dirty="0"/>
          </a:p>
          <a:p>
            <a:pPr lvl="1">
              <a:lnSpc>
                <a:spcPct val="150000"/>
              </a:lnSpc>
            </a:pPr>
            <a:r>
              <a:rPr lang="en-IN" sz="1800" b="1" dirty="0"/>
              <a:t>Techniques </a:t>
            </a:r>
            <a:r>
              <a:rPr lang="en-IN" sz="1800" b="1" dirty="0" smtClean="0"/>
              <a:t>Applied</a:t>
            </a:r>
            <a:r>
              <a:rPr lang="en-IN" sz="1800" dirty="0" smtClean="0"/>
              <a:t> - Data </a:t>
            </a:r>
            <a:r>
              <a:rPr lang="en-IN" sz="1800" dirty="0"/>
              <a:t>cleaning and </a:t>
            </a:r>
            <a:r>
              <a:rPr lang="en-IN" sz="1800" dirty="0" err="1" smtClean="0"/>
              <a:t>preprocessing</a:t>
            </a:r>
            <a:r>
              <a:rPr lang="en-IN" sz="1800" dirty="0" smtClean="0"/>
              <a:t> ,Descriptive statistics, Group-wise analysis ,Correlation analysis ,Statistical testing, Outlier analysis ,Data visualization ,Comparative </a:t>
            </a:r>
            <a:r>
              <a:rPr lang="en-IN" sz="1800" dirty="0"/>
              <a:t>analysis</a:t>
            </a:r>
          </a:p>
          <a:p>
            <a:pPr marL="457200" lvl="1" indent="0">
              <a:lnSpc>
                <a:spcPct val="150000"/>
              </a:lnSpc>
              <a:buNone/>
            </a:pPr>
            <a:r>
              <a:rPr lang="en-IN" sz="1800" dirty="0" smtClean="0"/>
              <a:t>  The </a:t>
            </a:r>
            <a:r>
              <a:rPr lang="en-IN" sz="1800" dirty="0"/>
              <a:t>project brief specifically expects appropriate </a:t>
            </a:r>
            <a:r>
              <a:rPr lang="en-IN" sz="1800" dirty="0" smtClean="0"/>
              <a:t>statistical</a:t>
            </a:r>
            <a:endParaRPr lang="en-IN" sz="1800" dirty="0"/>
          </a:p>
        </p:txBody>
      </p:sp>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99036" y="86177"/>
            <a:ext cx="5306291" cy="847817"/>
          </a:xfrm>
        </p:spPr>
        <p:txBody>
          <a:bodyPr>
            <a:normAutofit/>
          </a:bodyPr>
          <a:lstStyle/>
          <a:p>
            <a:r>
              <a:rPr lang="en-US" dirty="0"/>
              <a:t>Technology </a:t>
            </a:r>
            <a:r>
              <a:rPr lang="en-US" sz="4000" dirty="0"/>
              <a:t>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3573703" y="-218941"/>
            <a:ext cx="2801339" cy="656537"/>
          </a:xfrm>
        </p:spPr>
        <p:txBody>
          <a:bodyPr>
            <a:normAutofit fontScale="90000"/>
          </a:bodyPr>
          <a:lstStyle/>
          <a:p>
            <a:r>
              <a:rPr lang="en-GB" sz="4000" dirty="0"/>
              <a:t>RESULTS</a:t>
            </a:r>
            <a:r>
              <a:rPr lang="en-GB" dirty="0"/>
              <a:t>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rotWithShape="1">
          <a:blip r:embed="rId3"/>
          <a:srcRect l="8330" t="1613" r="9582" b="1688"/>
          <a:stretch/>
        </p:blipFill>
        <p:spPr>
          <a:xfrm>
            <a:off x="1164147" y="543313"/>
            <a:ext cx="3309870" cy="4633575"/>
          </a:xfrm>
          <a:prstGeom prst="rect">
            <a:avLst/>
          </a:prstGeom>
        </p:spPr>
      </p:pic>
      <p:pic>
        <p:nvPicPr>
          <p:cNvPr id="3" name="Picture 2"/>
          <p:cNvPicPr>
            <a:picLocks noChangeAspect="1"/>
          </p:cNvPicPr>
          <p:nvPr/>
        </p:nvPicPr>
        <p:blipFill rotWithShape="1">
          <a:blip r:embed="rId4"/>
          <a:srcRect l="867" t="1940" r="17919" b="2447"/>
          <a:stretch/>
        </p:blipFill>
        <p:spPr>
          <a:xfrm>
            <a:off x="4713668" y="566670"/>
            <a:ext cx="4829578" cy="4526857"/>
          </a:xfrm>
          <a:prstGeom prst="rect">
            <a:avLst/>
          </a:prstGeom>
        </p:spPr>
      </p:pic>
      <p:sp>
        <p:nvSpPr>
          <p:cNvPr id="6" name="Rectangle 5"/>
          <p:cNvSpPr/>
          <p:nvPr/>
        </p:nvSpPr>
        <p:spPr>
          <a:xfrm>
            <a:off x="525703" y="5231837"/>
            <a:ext cx="8077384" cy="1354217"/>
          </a:xfrm>
          <a:prstGeom prst="rect">
            <a:avLst/>
          </a:prstGeom>
        </p:spPr>
        <p:txBody>
          <a:bodyPr wrap="square">
            <a:spAutoFit/>
          </a:bodyPr>
          <a:lstStyle/>
          <a:p>
            <a:r>
              <a:rPr lang="en-IN" dirty="0"/>
              <a:t>Insight</a:t>
            </a:r>
          </a:p>
          <a:p>
            <a:r>
              <a:rPr lang="en-IN" sz="1600" dirty="0" err="1"/>
              <a:t>Kharif</a:t>
            </a:r>
            <a:r>
              <a:rPr lang="en-IN" sz="1600" dirty="0"/>
              <a:t> recorded the highest average agricultural yield, while Zaid recorded the lowest average yield among the three seasons</a:t>
            </a:r>
            <a:r>
              <a:rPr lang="en-IN" sz="1600" dirty="0" smtClean="0"/>
              <a:t>.</a:t>
            </a:r>
          </a:p>
          <a:p>
            <a:r>
              <a:rPr lang="en-US" sz="1600" dirty="0"/>
              <a:t>This directly addresses the project's objective of examining how agricultural performance varies across seasons.</a:t>
            </a:r>
            <a:endParaRPr lang="en-IN" sz="1600"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3341885" y="-96803"/>
            <a:ext cx="2981643" cy="830997"/>
          </a:xfrm>
        </p:spPr>
        <p:txBody>
          <a:bodyPr>
            <a:normAutofit/>
          </a:bodyPr>
          <a:lstStyle/>
          <a:p>
            <a:r>
              <a:rPr lang="en-GB" sz="3600" dirty="0"/>
              <a:t>RESULTS </a:t>
            </a:r>
            <a:endParaRPr lang="en-IN" sz="3600"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1"/>
          <p:cNvSpPr>
            <a:spLocks noGrp="1"/>
          </p:cNvSpPr>
          <p:nvPr>
            <p:ph type="body" sz="quarter" idx="12"/>
          </p:nvPr>
        </p:nvSpPr>
        <p:spPr>
          <a:xfrm>
            <a:off x="444139" y="5108491"/>
            <a:ext cx="8226022" cy="1912018"/>
          </a:xfrm>
        </p:spPr>
        <p:txBody>
          <a:bodyPr>
            <a:normAutofit/>
          </a:bodyPr>
          <a:lstStyle/>
          <a:p>
            <a:pPr marL="0" indent="0">
              <a:buNone/>
            </a:pPr>
            <a:r>
              <a:rPr lang="en-US" dirty="0" smtClean="0"/>
              <a:t> </a:t>
            </a:r>
            <a:r>
              <a:rPr lang="en-US" sz="1800" b="1" dirty="0" smtClean="0"/>
              <a:t>Insight</a:t>
            </a:r>
            <a:r>
              <a:rPr lang="en-US" dirty="0" smtClean="0"/>
              <a:t> - </a:t>
            </a:r>
            <a:r>
              <a:rPr lang="en-US" sz="1800" dirty="0" smtClean="0"/>
              <a:t>Crop-wise </a:t>
            </a:r>
            <a:r>
              <a:rPr lang="en-US" sz="1800" dirty="0"/>
              <a:t>comparison helps identify differences in agricultural productivity and highlights crops with relatively higher production performance</a:t>
            </a:r>
            <a:r>
              <a:rPr lang="en-US" sz="1800" dirty="0" smtClean="0"/>
              <a:t>.</a:t>
            </a:r>
          </a:p>
          <a:p>
            <a:pPr marL="0" indent="0">
              <a:buNone/>
            </a:pPr>
            <a:r>
              <a:rPr lang="en-US" sz="1800" dirty="0" smtClean="0"/>
              <a:t> Yield </a:t>
            </a:r>
            <a:r>
              <a:rPr lang="en-US" sz="1800" dirty="0"/>
              <a:t>varies considerably across crop types, with Sugarcane showing the highest average yield in the dataset at approximately 46.64 </a:t>
            </a:r>
            <a:r>
              <a:rPr lang="en-US" sz="1800" dirty="0" err="1"/>
              <a:t>tonnes</a:t>
            </a:r>
            <a:r>
              <a:rPr lang="en-US" sz="1800" dirty="0"/>
              <a:t>/ha.</a:t>
            </a:r>
            <a:endParaRPr lang="en-IN" sz="1800" dirty="0"/>
          </a:p>
        </p:txBody>
      </p:sp>
      <p:pic>
        <p:nvPicPr>
          <p:cNvPr id="3" name="Picture 2"/>
          <p:cNvPicPr>
            <a:picLocks noChangeAspect="1"/>
          </p:cNvPicPr>
          <p:nvPr/>
        </p:nvPicPr>
        <p:blipFill rotWithShape="1">
          <a:blip r:embed="rId3"/>
          <a:srcRect t="2804" r="7532"/>
          <a:stretch/>
        </p:blipFill>
        <p:spPr>
          <a:xfrm>
            <a:off x="693474" y="460360"/>
            <a:ext cx="2598576" cy="4648131"/>
          </a:xfrm>
          <a:prstGeom prst="rect">
            <a:avLst/>
          </a:prstGeom>
        </p:spPr>
      </p:pic>
      <p:pic>
        <p:nvPicPr>
          <p:cNvPr id="6" name="Picture 5"/>
          <p:cNvPicPr>
            <a:picLocks noChangeAspect="1"/>
          </p:cNvPicPr>
          <p:nvPr/>
        </p:nvPicPr>
        <p:blipFill rotWithShape="1">
          <a:blip r:embed="rId4"/>
          <a:srcRect l="906" t="1098" r="20710" b="1082"/>
          <a:stretch/>
        </p:blipFill>
        <p:spPr>
          <a:xfrm>
            <a:off x="4557150" y="460360"/>
            <a:ext cx="4971932" cy="459412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3837318" y="-31756"/>
            <a:ext cx="2981643" cy="830997"/>
          </a:xfrm>
        </p:spPr>
        <p:txBody>
          <a:bodyPr>
            <a:normAutofit/>
          </a:bodyPr>
          <a:lstStyle/>
          <a:p>
            <a:r>
              <a:rPr lang="en-GB" sz="4000" dirty="0"/>
              <a:t>RESULTS </a:t>
            </a:r>
            <a:endParaRPr lang="en-IN" sz="4000" dirty="0"/>
          </a:p>
        </p:txBody>
      </p:sp>
      <p:sp>
        <p:nvSpPr>
          <p:cNvPr id="7" name="Text Placeholder 30">
            <a:extLst>
              <a:ext uri="{FF2B5EF4-FFF2-40B4-BE49-F238E27FC236}">
                <a16:creationId xmlns:a16="http://schemas.microsoft.com/office/drawing/2014/main" xmlns=""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B6E3B1C7-6A8B-23EE-6251-DC1067C6ADE9}"/>
              </a:ext>
            </a:extLst>
          </p:cNvPr>
          <p:cNvSpPr>
            <a:spLocks noGrp="1"/>
          </p:cNvSpPr>
          <p:nvPr>
            <p:ph type="body" sz="quarter" idx="12"/>
          </p:nvPr>
        </p:nvSpPr>
        <p:spPr>
          <a:xfrm>
            <a:off x="320983" y="5013537"/>
            <a:ext cx="9047356" cy="1458383"/>
          </a:xfrm>
        </p:spPr>
        <p:txBody>
          <a:bodyPr>
            <a:normAutofit/>
          </a:bodyPr>
          <a:lstStyle/>
          <a:p>
            <a:pPr marL="0" indent="0">
              <a:buNone/>
            </a:pPr>
            <a:r>
              <a:rPr lang="en-US" b="1" dirty="0" smtClean="0"/>
              <a:t>Insight</a:t>
            </a:r>
            <a:r>
              <a:rPr lang="en-US" dirty="0" smtClean="0"/>
              <a:t> -Drip </a:t>
            </a:r>
            <a:r>
              <a:rPr lang="en-US" dirty="0"/>
              <a:t>irrigation recorded the highest average yield among the irrigation methods analyzed.</a:t>
            </a:r>
          </a:p>
          <a:p>
            <a:pPr marL="0" indent="0">
              <a:buNone/>
            </a:pPr>
            <a:r>
              <a:rPr lang="en-US" dirty="0"/>
              <a:t>This indicates an observed association between irrigation method and yield within the available dataset.</a:t>
            </a:r>
            <a:endParaRPr lang="en-IN" dirty="0"/>
          </a:p>
        </p:txBody>
      </p:sp>
      <p:pic>
        <p:nvPicPr>
          <p:cNvPr id="2" name="Picture 1"/>
          <p:cNvPicPr>
            <a:picLocks noChangeAspect="1"/>
          </p:cNvPicPr>
          <p:nvPr/>
        </p:nvPicPr>
        <p:blipFill>
          <a:blip r:embed="rId3"/>
          <a:stretch>
            <a:fillRect/>
          </a:stretch>
        </p:blipFill>
        <p:spPr>
          <a:xfrm>
            <a:off x="6300860" y="383742"/>
            <a:ext cx="3067478" cy="4629796"/>
          </a:xfrm>
          <a:prstGeom prst="rect">
            <a:avLst/>
          </a:prstGeom>
        </p:spPr>
      </p:pic>
      <p:pic>
        <p:nvPicPr>
          <p:cNvPr id="3" name="Picture 2"/>
          <p:cNvPicPr>
            <a:picLocks noChangeAspect="1"/>
          </p:cNvPicPr>
          <p:nvPr/>
        </p:nvPicPr>
        <p:blipFill rotWithShape="1">
          <a:blip r:embed="rId4"/>
          <a:srcRect r="6726"/>
          <a:stretch/>
        </p:blipFill>
        <p:spPr>
          <a:xfrm>
            <a:off x="320983" y="697240"/>
            <a:ext cx="5757846" cy="4286848"/>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4119513" y="0"/>
            <a:ext cx="2981643" cy="830997"/>
          </a:xfrm>
        </p:spPr>
        <p:txBody>
          <a:bodyPr>
            <a:normAutofit/>
          </a:bodyPr>
          <a:lstStyle/>
          <a:p>
            <a:r>
              <a:rPr lang="en-GB" sz="4000" dirty="0"/>
              <a:t>RESULTS </a:t>
            </a:r>
            <a:endParaRPr lang="en-IN" sz="4000" dirty="0"/>
          </a:p>
        </p:txBody>
      </p:sp>
      <p:sp>
        <p:nvSpPr>
          <p:cNvPr id="7" name="Text Placeholder 30">
            <a:extLst>
              <a:ext uri="{FF2B5EF4-FFF2-40B4-BE49-F238E27FC236}">
                <a16:creationId xmlns:a16="http://schemas.microsoft.com/office/drawing/2014/main" xmlns=""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2B7B89A1-9444-8322-CADC-42D31D698FA8}"/>
              </a:ext>
            </a:extLst>
          </p:cNvPr>
          <p:cNvSpPr>
            <a:spLocks noGrp="1"/>
          </p:cNvSpPr>
          <p:nvPr>
            <p:ph type="body" sz="quarter" idx="12"/>
          </p:nvPr>
        </p:nvSpPr>
        <p:spPr>
          <a:xfrm>
            <a:off x="655096" y="5267459"/>
            <a:ext cx="8025265" cy="1184757"/>
          </a:xfrm>
        </p:spPr>
        <p:txBody>
          <a:bodyPr>
            <a:normAutofit fontScale="92500" lnSpcReduction="20000"/>
          </a:bodyPr>
          <a:lstStyle/>
          <a:p>
            <a:pPr marL="0" indent="0">
              <a:buNone/>
            </a:pPr>
            <a:r>
              <a:rPr lang="en-US" b="1" dirty="0" smtClean="0"/>
              <a:t>Insight</a:t>
            </a:r>
            <a:r>
              <a:rPr lang="en-US" dirty="0" smtClean="0"/>
              <a:t> - </a:t>
            </a:r>
            <a:r>
              <a:rPr lang="en-US" sz="1900" dirty="0" err="1" smtClean="0"/>
              <a:t>Kharif</a:t>
            </a:r>
            <a:r>
              <a:rPr lang="en-US" sz="1900" dirty="0" smtClean="0"/>
              <a:t> </a:t>
            </a:r>
            <a:r>
              <a:rPr lang="en-US" sz="1900" dirty="0"/>
              <a:t>recorded the highest water-use efficiency, while Zaid recorded the lowest.</a:t>
            </a:r>
          </a:p>
          <a:p>
            <a:pPr marL="0" indent="0">
              <a:buNone/>
            </a:pPr>
            <a:r>
              <a:rPr lang="en-US" sz="1900" dirty="0"/>
              <a:t>This analysis helps understand how resource utilization varies across seasons.</a:t>
            </a:r>
            <a:endParaRPr lang="en-IN" sz="1900" dirty="0"/>
          </a:p>
        </p:txBody>
      </p:sp>
      <p:pic>
        <p:nvPicPr>
          <p:cNvPr id="2" name="Picture 1"/>
          <p:cNvPicPr>
            <a:picLocks noChangeAspect="1"/>
          </p:cNvPicPr>
          <p:nvPr/>
        </p:nvPicPr>
        <p:blipFill rotWithShape="1">
          <a:blip r:embed="rId3"/>
          <a:srcRect l="4492" r="11749"/>
          <a:stretch/>
        </p:blipFill>
        <p:spPr>
          <a:xfrm>
            <a:off x="655096" y="296716"/>
            <a:ext cx="2936384" cy="4734586"/>
          </a:xfrm>
          <a:prstGeom prst="rect">
            <a:avLst/>
          </a:prstGeom>
        </p:spPr>
      </p:pic>
      <p:pic>
        <p:nvPicPr>
          <p:cNvPr id="3" name="Picture 2"/>
          <p:cNvPicPr>
            <a:picLocks noChangeAspect="1"/>
          </p:cNvPicPr>
          <p:nvPr/>
        </p:nvPicPr>
        <p:blipFill rotWithShape="1">
          <a:blip r:embed="rId4"/>
          <a:srcRect r="12579"/>
          <a:stretch/>
        </p:blipFill>
        <p:spPr>
          <a:xfrm>
            <a:off x="3830540" y="887349"/>
            <a:ext cx="5713003" cy="4143953"/>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3664543" y="0"/>
            <a:ext cx="2981643" cy="830997"/>
          </a:xfrm>
        </p:spPr>
        <p:txBody>
          <a:bodyPr>
            <a:normAutofit/>
          </a:bodyPr>
          <a:lstStyle/>
          <a:p>
            <a:r>
              <a:rPr lang="en-GB" sz="4000" dirty="0"/>
              <a:t>RESULTS </a:t>
            </a:r>
            <a:endParaRPr lang="en-IN" sz="4000"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675956" y="5273017"/>
            <a:ext cx="8352133" cy="936560"/>
          </a:xfrm>
        </p:spPr>
        <p:txBody>
          <a:bodyPr>
            <a:normAutofit fontScale="92500" lnSpcReduction="20000"/>
          </a:bodyPr>
          <a:lstStyle/>
          <a:p>
            <a:pPr marL="0" indent="0">
              <a:buNone/>
            </a:pPr>
            <a:r>
              <a:rPr lang="en-US" b="1" dirty="0" smtClean="0"/>
              <a:t>Insight</a:t>
            </a:r>
            <a:r>
              <a:rPr lang="en-US" dirty="0" smtClean="0"/>
              <a:t> </a:t>
            </a:r>
            <a:endParaRPr lang="en-US" dirty="0"/>
          </a:p>
          <a:p>
            <a:pPr marL="0" indent="0">
              <a:buNone/>
            </a:pPr>
            <a:r>
              <a:rPr lang="en-US" dirty="0"/>
              <a:t>Water efficiency and production show the strongest positive relationships with yield in the dataset.</a:t>
            </a:r>
            <a:endParaRPr lang="en-IN" dirty="0"/>
          </a:p>
        </p:txBody>
      </p:sp>
      <p:pic>
        <p:nvPicPr>
          <p:cNvPr id="2" name="Picture 1"/>
          <p:cNvPicPr>
            <a:picLocks noChangeAspect="1"/>
          </p:cNvPicPr>
          <p:nvPr/>
        </p:nvPicPr>
        <p:blipFill>
          <a:blip r:embed="rId3"/>
          <a:stretch>
            <a:fillRect/>
          </a:stretch>
        </p:blipFill>
        <p:spPr>
          <a:xfrm>
            <a:off x="3357547" y="1017432"/>
            <a:ext cx="6147061" cy="4069150"/>
          </a:xfrm>
          <a:prstGeom prst="rect">
            <a:avLst/>
          </a:prstGeom>
        </p:spPr>
      </p:pic>
      <p:pic>
        <p:nvPicPr>
          <p:cNvPr id="3" name="Picture 2"/>
          <p:cNvPicPr>
            <a:picLocks noChangeAspect="1"/>
          </p:cNvPicPr>
          <p:nvPr/>
        </p:nvPicPr>
        <p:blipFill>
          <a:blip r:embed="rId4"/>
          <a:stretch>
            <a:fillRect/>
          </a:stretch>
        </p:blipFill>
        <p:spPr>
          <a:xfrm>
            <a:off x="412124" y="180305"/>
            <a:ext cx="2945423" cy="4623516"/>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320982" y="1275371"/>
            <a:ext cx="9621508" cy="4829216"/>
          </a:xfrm>
          <a:prstGeom prst="rect">
            <a:avLst/>
          </a:prstGeom>
        </p:spPr>
        <p:txBody>
          <a:bodyPr vert="horz" lIns="91440" tIns="45720" rIns="91440" bIns="45720" rtlCol="0">
            <a:normAutofit fontScale="925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US" sz="2000" dirty="0"/>
              <a:t>The project can be further enhanced by:</a:t>
            </a:r>
          </a:p>
          <a:p>
            <a:pPr marL="342900" indent="-342900" algn="l">
              <a:buFont typeface="Arial" panose="020B0604020202020204" pitchFamily="34" charset="0"/>
              <a:buChar char="•"/>
            </a:pPr>
            <a:r>
              <a:rPr lang="en-US" sz="1900" dirty="0"/>
              <a:t>Integrating real-time weather and environmental data.</a:t>
            </a:r>
          </a:p>
          <a:p>
            <a:pPr marL="342900" indent="-342900" algn="l">
              <a:buFont typeface="Arial" panose="020B0604020202020204" pitchFamily="34" charset="0"/>
              <a:buChar char="•"/>
            </a:pPr>
            <a:r>
              <a:rPr lang="en-US" sz="1900" dirty="0"/>
              <a:t>Incorporating larger datasets covering multiple years and regions.</a:t>
            </a:r>
          </a:p>
          <a:p>
            <a:pPr marL="342900" indent="-342900" algn="l">
              <a:buFont typeface="Arial" panose="020B0604020202020204" pitchFamily="34" charset="0"/>
              <a:buChar char="•"/>
            </a:pPr>
            <a:r>
              <a:rPr lang="en-US" sz="1900" dirty="0"/>
              <a:t>Developing predictive models for crop yield forecasting.</a:t>
            </a:r>
          </a:p>
          <a:p>
            <a:pPr marL="342900" indent="-342900" algn="l">
              <a:buFont typeface="Arial" panose="020B0604020202020204" pitchFamily="34" charset="0"/>
              <a:buChar char="•"/>
            </a:pPr>
            <a:r>
              <a:rPr lang="en-US" sz="1900" dirty="0"/>
              <a:t>Using machine learning to identify factors associated with agricultural performance.</a:t>
            </a:r>
          </a:p>
          <a:p>
            <a:pPr marL="342900" indent="-342900" algn="l">
              <a:buFont typeface="Arial" panose="020B0604020202020204" pitchFamily="34" charset="0"/>
              <a:buChar char="•"/>
            </a:pPr>
            <a:r>
              <a:rPr lang="en-US" sz="1900" dirty="0"/>
              <a:t>Developing an interactive Power BI/Tableau dashboard for easier decision-making.</a:t>
            </a:r>
          </a:p>
          <a:p>
            <a:pPr marL="342900" indent="-342900" algn="l">
              <a:buFont typeface="Arial" panose="020B0604020202020204" pitchFamily="34" charset="0"/>
              <a:buChar char="•"/>
            </a:pPr>
            <a:r>
              <a:rPr lang="en-US" sz="1900" dirty="0"/>
              <a:t>Adding real-time monitoring of water usage, rainfall, soil conditions, and crop performance.</a:t>
            </a:r>
          </a:p>
          <a:p>
            <a:pPr marL="342900" indent="-342900" algn="l">
              <a:buFont typeface="Arial" panose="020B0604020202020204" pitchFamily="34" charset="0"/>
              <a:buChar char="•"/>
            </a:pPr>
            <a:r>
              <a:rPr lang="en-US" sz="1900" dirty="0"/>
              <a:t>Developing a recommendation system to support seasonal crop and resource planning.</a:t>
            </a:r>
          </a:p>
          <a:p>
            <a:pPr algn="l"/>
            <a:r>
              <a:rPr lang="en-US" sz="1900" dirty="0" smtClean="0"/>
              <a:t>  </a:t>
            </a:r>
            <a:r>
              <a:rPr lang="en-US" sz="2200" b="1" dirty="0" smtClean="0"/>
              <a:t>Future </a:t>
            </a:r>
            <a:r>
              <a:rPr lang="en-US" sz="2200" b="1" dirty="0"/>
              <a:t>Vision</a:t>
            </a:r>
          </a:p>
          <a:p>
            <a:pPr algn="l"/>
            <a:r>
              <a:rPr lang="en-US" sz="2000" dirty="0"/>
              <a:t>The analysis can be extended from descriptive analytics to predictive and </a:t>
            </a:r>
            <a:endParaRPr lang="en-US" sz="2000" dirty="0" smtClean="0"/>
          </a:p>
          <a:p>
            <a:pPr algn="l"/>
            <a:r>
              <a:rPr lang="en-US" sz="2000" dirty="0" smtClean="0"/>
              <a:t>prescriptive </a:t>
            </a:r>
            <a:r>
              <a:rPr lang="en-US" sz="2000" dirty="0"/>
              <a:t>analytics for more informed agricultural planning.</a:t>
            </a:r>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xmlns=""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https://github.com/sanika-whaval/Seasonal-Agriculture-Performance-Analysis.git</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graphicFrame>
        <p:nvGraphicFramePr>
          <p:cNvPr id="2" name="Object 1"/>
          <p:cNvGraphicFramePr>
            <a:graphicFrameLocks noChangeAspect="1"/>
          </p:cNvGraphicFramePr>
          <p:nvPr>
            <p:extLst>
              <p:ext uri="{D42A27DB-BD31-4B8C-83A1-F6EECF244321}">
                <p14:modId xmlns:p14="http://schemas.microsoft.com/office/powerpoint/2010/main" val="2909078201"/>
              </p:ext>
            </p:extLst>
          </p:nvPr>
        </p:nvGraphicFramePr>
        <p:xfrm>
          <a:off x="581751" y="1468191"/>
          <a:ext cx="7527885" cy="4713667"/>
        </p:xfrm>
        <a:graphic>
          <a:graphicData uri="http://schemas.openxmlformats.org/presentationml/2006/ole">
            <mc:AlternateContent xmlns:mc="http://schemas.openxmlformats.org/markup-compatibility/2006">
              <mc:Choice xmlns:v="urn:schemas-microsoft-com:vml" Requires="v">
                <p:oleObj spid="_x0000_s1029" name="Acrobat Document" r:id="rId4" imgW="8020012" imgH="5667195" progId="Acrobat.Document.DC">
                  <p:embed/>
                </p:oleObj>
              </mc:Choice>
              <mc:Fallback>
                <p:oleObj name="Acrobat Document" r:id="rId4" imgW="8020012" imgH="5667195" progId="Acrobat.Document.DC">
                  <p:embed/>
                  <p:pic>
                    <p:nvPicPr>
                      <p:cNvPr id="0" name=""/>
                      <p:cNvPicPr/>
                      <p:nvPr/>
                    </p:nvPicPr>
                    <p:blipFill>
                      <a:blip r:embed="rId5"/>
                      <a:stretch>
                        <a:fillRect/>
                      </a:stretch>
                    </p:blipFill>
                    <p:spPr>
                      <a:xfrm>
                        <a:off x="581751" y="1468191"/>
                        <a:ext cx="7527885" cy="4713667"/>
                      </a:xfrm>
                      <a:prstGeom prst="rect">
                        <a:avLst/>
                      </a:prstGeom>
                    </p:spPr>
                  </p:pic>
                </p:oleObj>
              </mc:Fallback>
            </mc:AlternateContent>
          </a:graphicData>
        </a:graphic>
      </p:graphicFrame>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xmlns=""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purl.org/dc/dcmitype/"/>
    <ds:schemaRef ds:uri="http://www.w3.org/XML/1998/namespace"/>
    <ds:schemaRef ds:uri="http://schemas.microsoft.com/office/2006/documentManagement/types"/>
    <ds:schemaRef ds:uri="http://schemas.openxmlformats.org/package/2006/metadata/core-properties"/>
    <ds:schemaRef ds:uri="http://schemas.microsoft.com/office/infopath/2007/PartnerControls"/>
    <ds:schemaRef ds:uri="16c05727-aa75-4e4a-9b5f-8a80a1165891"/>
    <ds:schemaRef ds:uri="http://schemas.microsoft.com/office/2006/metadata/properties"/>
    <ds:schemaRef ds:uri="71af3243-3dd4-4a8d-8c0d-dd76da1f02a5"/>
    <ds:schemaRef ds:uri="http://purl.org/dc/terms/"/>
    <ds:schemaRef ds:uri="http://purl.org/dc/elements/1.1/"/>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1504</TotalTime>
  <Words>609</Words>
  <Application>Microsoft Office PowerPoint</Application>
  <PresentationFormat>Widescreen</PresentationFormat>
  <Paragraphs>60</Paragraphs>
  <Slides>14</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1" baseType="lpstr">
      <vt:lpstr>Arial</vt:lpstr>
      <vt:lpstr>Calibri</vt:lpstr>
      <vt:lpstr>Trebuchet MS</vt:lpstr>
      <vt:lpstr>Wingdings</vt:lpstr>
      <vt:lpstr>Wingdings 3</vt:lpstr>
      <vt:lpstr>Facet</vt:lpstr>
      <vt:lpstr>Adobe Acrobat Document</vt:lpstr>
      <vt:lpstr>Project Title -Seasonal Agriculture Performance Analysis </vt:lpstr>
      <vt:lpstr>PROBLEM  STATEMENT</vt:lpstr>
      <vt:lpstr>Project Description This project focuses on analyzing agricultural activities across different seasons, geographical areas, crops, farming conditions, and resource usage. The dataset contains information related to farming practices, environmental conditions, crop production, resource utilization, and economic performance. The analysis involves cleaning and preparing the agricultural data, exploring seasonal variations, comparing agricultural performance across different categories, identifying relationships between environmental and agricultural factors, and applying statistical and visualization techniques to generate meaningful insights. The project aims to transform raw agricultural data into evidence-based insights and data-driven recommendations that can support better understanding and planning of seasonal agricultural activities.  Key Areas Analyzed Seasonal performance Crop-wise yield Irrigation methods Water usage and efficiency Environmental conditions Resource utilization Economic performance Relationships between agricultural variables</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DELL</cp:lastModifiedBy>
  <cp:revision>107</cp:revision>
  <dcterms:created xsi:type="dcterms:W3CDTF">2021-07-11T13:13:15Z</dcterms:created>
  <dcterms:modified xsi:type="dcterms:W3CDTF">2026-09-09T22:59:53Z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